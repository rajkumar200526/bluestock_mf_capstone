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15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C6571-3AAE-4213-ADA6-7A852862DC7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FE63B-EF32-40B1-9337-CB41C3EA70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5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FE63B-EF32-40B1-9337-CB41C3EA701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78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FE63B-EF32-40B1-9337-CB41C3EA701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657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</p:sp>
      <p:pic>
        <p:nvPicPr>
          <p:cNvPr id="8" name="Picture 7" descr="Bluestock ™ (@BFintech3366) / Posts / X">
            <a:extLst>
              <a:ext uri="{FF2B5EF4-FFF2-40B4-BE49-F238E27FC236}">
                <a16:creationId xmlns:a16="http://schemas.microsoft.com/office/drawing/2014/main" id="{88955C01-B760-C9A9-840F-1965D0C05B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37" r="10975" b="-1"/>
          <a:stretch>
            <a:fillRect/>
          </a:stretch>
        </p:blipFill>
        <p:spPr>
          <a:xfrm>
            <a:off x="495553" y="416238"/>
            <a:ext cx="3749270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601AA-1FF8-654B-BDE2-44774553436B}"/>
              </a:ext>
            </a:extLst>
          </p:cNvPr>
          <p:cNvSpPr txBox="1"/>
          <p:nvPr/>
        </p:nvSpPr>
        <p:spPr>
          <a:xfrm>
            <a:off x="5230742" y="1105607"/>
            <a:ext cx="6954923" cy="705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Mutual Fund Analytics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E6405-F0EC-49EF-38A4-9A693D4E47F4}"/>
              </a:ext>
            </a:extLst>
          </p:cNvPr>
          <p:cNvSpPr txBox="1"/>
          <p:nvPr/>
        </p:nvSpPr>
        <p:spPr>
          <a:xfrm>
            <a:off x="5157321" y="1940934"/>
            <a:ext cx="6484671" cy="5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sz="2400" b="1" cap="all" dirty="0" err="1">
                <a:solidFill>
                  <a:srgbClr val="00B0F0"/>
                </a:solidFill>
              </a:rPr>
              <a:t>Bluestock</a:t>
            </a:r>
            <a:r>
              <a:rPr lang="en-US" sz="2400" b="1" cap="all" dirty="0">
                <a:solidFill>
                  <a:srgbClr val="00B0F0"/>
                </a:solidFill>
              </a:rPr>
              <a:t> Fintech --Capstone Project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04E5F-F4FD-31CE-47DC-F476E9D51775}"/>
              </a:ext>
            </a:extLst>
          </p:cNvPr>
          <p:cNvSpPr txBox="1"/>
          <p:nvPr/>
        </p:nvSpPr>
        <p:spPr>
          <a:xfrm>
            <a:off x="8563897" y="5422771"/>
            <a:ext cx="3535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Prepared By:</a:t>
            </a:r>
            <a:br>
              <a:rPr lang="en-IN" dirty="0">
                <a:solidFill>
                  <a:srgbClr val="00B0F0"/>
                </a:solidFill>
              </a:rPr>
            </a:br>
            <a:r>
              <a:rPr lang="en-IN" dirty="0" err="1">
                <a:solidFill>
                  <a:srgbClr val="00B0F0"/>
                </a:solidFill>
              </a:rPr>
              <a:t>Ampolu</a:t>
            </a:r>
            <a:r>
              <a:rPr lang="en-IN" dirty="0">
                <a:solidFill>
                  <a:srgbClr val="00B0F0"/>
                </a:solidFill>
              </a:rPr>
              <a:t> Raj Kumar</a:t>
            </a:r>
          </a:p>
          <a:p>
            <a:r>
              <a:rPr lang="en-IN" b="1" dirty="0"/>
              <a:t> </a:t>
            </a:r>
            <a:r>
              <a:rPr lang="en-IN" b="1" dirty="0">
                <a:solidFill>
                  <a:srgbClr val="00B0F0"/>
                </a:solidFill>
              </a:rPr>
              <a:t>ID:</a:t>
            </a:r>
            <a:r>
              <a:rPr lang="en-IN" dirty="0">
                <a:solidFill>
                  <a:srgbClr val="00B0F0"/>
                </a:solidFill>
              </a:rPr>
              <a:t> </a:t>
            </a:r>
            <a:r>
              <a:rPr lang="en-IN" dirty="0">
                <a:solidFill>
                  <a:schemeClr val="bg1"/>
                </a:solidFill>
              </a:rPr>
              <a:t>BFDA51250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FBDFE-E90A-5776-FD41-898166124D25}"/>
              </a:ext>
            </a:extLst>
          </p:cNvPr>
          <p:cNvSpPr txBox="1"/>
          <p:nvPr/>
        </p:nvSpPr>
        <p:spPr>
          <a:xfrm>
            <a:off x="4824215" y="3626611"/>
            <a:ext cx="4908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Technology Stack:</a:t>
            </a:r>
            <a:br>
              <a:rPr lang="en-IN" dirty="0"/>
            </a:br>
            <a:r>
              <a:rPr lang="en-IN" b="1" dirty="0">
                <a:solidFill>
                  <a:schemeClr val="bg2"/>
                </a:solidFill>
              </a:rPr>
              <a:t>Python | Pandas | SQLite | Power BI |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4F362-AFAE-9D9B-C90E-3555023A03C3}"/>
              </a:ext>
            </a:extLst>
          </p:cNvPr>
          <p:cNvSpPr txBox="1"/>
          <p:nvPr/>
        </p:nvSpPr>
        <p:spPr>
          <a:xfrm>
            <a:off x="6831732" y="2585059"/>
            <a:ext cx="4051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Internship Duration:</a:t>
            </a:r>
            <a:br>
              <a:rPr lang="en-IN" b="1" dirty="0">
                <a:solidFill>
                  <a:schemeClr val="bg2"/>
                </a:solidFill>
              </a:rPr>
            </a:br>
            <a:r>
              <a:rPr lang="en-IN" b="1" dirty="0">
                <a:solidFill>
                  <a:schemeClr val="bg2"/>
                </a:solidFill>
              </a:rPr>
              <a:t>7-Day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178729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25A9DD-B7B2-8441-2122-9ABD5166CE82}"/>
              </a:ext>
            </a:extLst>
          </p:cNvPr>
          <p:cNvSpPr/>
          <p:nvPr/>
        </p:nvSpPr>
        <p:spPr>
          <a:xfrm>
            <a:off x="629265" y="1504335"/>
            <a:ext cx="4876800" cy="3844413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3ED42-F667-8422-A9F5-743708A9D261}"/>
              </a:ext>
            </a:extLst>
          </p:cNvPr>
          <p:cNvSpPr txBox="1"/>
          <p:nvPr/>
        </p:nvSpPr>
        <p:spPr>
          <a:xfrm>
            <a:off x="1052052" y="1848465"/>
            <a:ext cx="40902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Problem Statement:</a:t>
            </a:r>
          </a:p>
          <a:p>
            <a:endParaRPr lang="en-IN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chemeClr val="bg2"/>
                </a:solidFill>
              </a:rPr>
              <a:t>Investors often face challenges in: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Comparing mutual fund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Understanding risk-adjusted returns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Tracking portfolio diversification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2"/>
                </a:solidFill>
              </a:rPr>
              <a:t>Analyzing</a:t>
            </a:r>
            <a:r>
              <a:rPr lang="en-IN" b="1" dirty="0">
                <a:solidFill>
                  <a:schemeClr val="bg2"/>
                </a:solidFill>
              </a:rPr>
              <a:t> investor </a:t>
            </a:r>
            <a:r>
              <a:rPr lang="en-IN" b="1" dirty="0" err="1">
                <a:solidFill>
                  <a:schemeClr val="bg2"/>
                </a:solidFill>
              </a:rPr>
              <a:t>behavior</a:t>
            </a:r>
            <a:r>
              <a:rPr lang="en-IN" b="1" dirty="0">
                <a:solidFill>
                  <a:schemeClr val="bg2"/>
                </a:solidFill>
              </a:rPr>
              <a:t> </a:t>
            </a:r>
          </a:p>
          <a:p>
            <a:r>
              <a:rPr lang="en-IN" b="1" dirty="0">
                <a:solidFill>
                  <a:schemeClr val="bg2"/>
                </a:solidFill>
              </a:rPr>
              <a:t>Monitoring industry growth trends</a:t>
            </a:r>
          </a:p>
          <a:p>
            <a:endParaRPr lang="en-IN" b="1" dirty="0">
              <a:solidFill>
                <a:schemeClr val="bg2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E793DB-FDAA-24A1-DFBF-7D750519AF47}"/>
              </a:ext>
            </a:extLst>
          </p:cNvPr>
          <p:cNvSpPr/>
          <p:nvPr/>
        </p:nvSpPr>
        <p:spPr>
          <a:xfrm>
            <a:off x="5928852" y="1504335"/>
            <a:ext cx="5211096" cy="3844413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7A96DB-408A-DF9A-C02C-BC6F79DC0265}"/>
              </a:ext>
            </a:extLst>
          </p:cNvPr>
          <p:cNvSpPr txBox="1"/>
          <p:nvPr/>
        </p:nvSpPr>
        <p:spPr>
          <a:xfrm>
            <a:off x="6390968" y="1504335"/>
            <a:ext cx="43753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sz="2000" b="1" dirty="0">
                <a:solidFill>
                  <a:srgbClr val="FF0000"/>
                </a:solidFill>
              </a:rPr>
              <a:t>Project Objectives:</a:t>
            </a:r>
          </a:p>
          <a:p>
            <a:endParaRPr lang="en-IN" sz="2000" b="1" dirty="0">
              <a:solidFill>
                <a:srgbClr val="FF0000"/>
              </a:solidFill>
            </a:endParaRPr>
          </a:p>
          <a:p>
            <a:r>
              <a:rPr lang="en-IN" b="1" dirty="0">
                <a:solidFill>
                  <a:schemeClr val="bg2"/>
                </a:solidFill>
              </a:rPr>
              <a:t>✔ Build ETL Pipeline</a:t>
            </a:r>
          </a:p>
          <a:p>
            <a:r>
              <a:rPr lang="en-IN" b="1" dirty="0">
                <a:solidFill>
                  <a:schemeClr val="bg2"/>
                </a:solidFill>
              </a:rPr>
              <a:t>✔ Design SQLite Database</a:t>
            </a:r>
          </a:p>
          <a:p>
            <a:r>
              <a:rPr lang="en-IN" b="1" dirty="0">
                <a:solidFill>
                  <a:schemeClr val="bg2"/>
                </a:solidFill>
              </a:rPr>
              <a:t>✔ Perform EDA</a:t>
            </a:r>
          </a:p>
          <a:p>
            <a:r>
              <a:rPr lang="en-IN" b="1" dirty="0">
                <a:solidFill>
                  <a:schemeClr val="bg2"/>
                </a:solidFill>
              </a:rPr>
              <a:t>✔ Calculate Performance Metrics</a:t>
            </a:r>
          </a:p>
          <a:p>
            <a:r>
              <a:rPr lang="en-IN" b="1" dirty="0">
                <a:solidFill>
                  <a:schemeClr val="bg2"/>
                </a:solidFill>
              </a:rPr>
              <a:t>✔ Develop Power BI Dashboard</a:t>
            </a:r>
          </a:p>
          <a:p>
            <a:r>
              <a:rPr lang="en-IN" b="1" dirty="0">
                <a:solidFill>
                  <a:schemeClr val="bg2"/>
                </a:solidFill>
              </a:rPr>
              <a:t>✔ Implement Risk Analytics</a:t>
            </a:r>
          </a:p>
          <a:p>
            <a:r>
              <a:rPr lang="en-IN" b="1" dirty="0">
                <a:solidFill>
                  <a:schemeClr val="bg2"/>
                </a:solidFill>
              </a:rPr>
              <a:t>✔ Build Fund Recommendation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38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586A63-D88C-F46E-A783-93DA9647A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722422"/>
              </p:ext>
            </p:extLst>
          </p:nvPr>
        </p:nvGraphicFramePr>
        <p:xfrm>
          <a:off x="2078154" y="1584498"/>
          <a:ext cx="7419808" cy="3368684"/>
        </p:xfrm>
        <a:graphic>
          <a:graphicData uri="http://schemas.openxmlformats.org/drawingml/2006/table">
            <a:tbl>
              <a:tblPr/>
              <a:tblGrid>
                <a:gridCol w="3709904">
                  <a:extLst>
                    <a:ext uri="{9D8B030D-6E8A-4147-A177-3AD203B41FA5}">
                      <a16:colId xmlns:a16="http://schemas.microsoft.com/office/drawing/2014/main" val="589409420"/>
                    </a:ext>
                  </a:extLst>
                </a:gridCol>
                <a:gridCol w="3709904">
                  <a:extLst>
                    <a:ext uri="{9D8B030D-6E8A-4147-A177-3AD203B41FA5}">
                      <a16:colId xmlns:a16="http://schemas.microsoft.com/office/drawing/2014/main" val="2040887299"/>
                    </a:ext>
                  </a:extLst>
                </a:gridCol>
              </a:tblGrid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rgbClr val="FF0000"/>
                          </a:solidFill>
                        </a:rPr>
                        <a:t>Dataset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57951468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Fund Master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Scheme Information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3973570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NAV History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Daily NAV Tracking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9927690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AUM Dataset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Asset Management Analysis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4115112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SIP Dataset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Monthly SIP Trends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64725456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Category Inflows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Investor Preferences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24135237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Folio Count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Industry Growth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64070934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Scheme Performance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Fund Returns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58745429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Transactions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Investor </a:t>
                      </a:r>
                      <a:r>
                        <a:rPr lang="en-IN" sz="1500" dirty="0" err="1"/>
                        <a:t>Behavior</a:t>
                      </a:r>
                      <a:endParaRPr lang="en-IN" sz="1500" dirty="0"/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58300040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Portfolio Holdings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Sector Allocation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03824707"/>
                  </a:ext>
                </a:extLst>
              </a:tr>
              <a:tr h="305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Benchmark Data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Nifty Comparison</a:t>
                      </a:r>
                    </a:p>
                  </a:txBody>
                  <a:tcPr marL="77643" marR="77643" marT="38822" marB="388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rgbClr val="92D050"/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95300390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A830FF-FA24-3952-3BE3-6AC439CB4D6F}"/>
              </a:ext>
            </a:extLst>
          </p:cNvPr>
          <p:cNvCxnSpPr>
            <a:endCxn id="5" idx="2"/>
          </p:cNvCxnSpPr>
          <p:nvPr/>
        </p:nvCxnSpPr>
        <p:spPr>
          <a:xfrm>
            <a:off x="5771536" y="1526842"/>
            <a:ext cx="16522" cy="3426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866C6D-85CB-9206-1FFB-C782FED4FDE8}"/>
              </a:ext>
            </a:extLst>
          </p:cNvPr>
          <p:cNvSpPr txBox="1"/>
          <p:nvPr/>
        </p:nvSpPr>
        <p:spPr>
          <a:xfrm>
            <a:off x="4876800" y="1157510"/>
            <a:ext cx="2169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Datasets</a:t>
            </a:r>
            <a:r>
              <a:rPr lang="en-IN" dirty="0">
                <a:solidFill>
                  <a:schemeClr val="bg2"/>
                </a:solidFill>
              </a:rPr>
              <a:t> </a:t>
            </a:r>
            <a:r>
              <a:rPr lang="en-IN" b="1" dirty="0">
                <a:solidFill>
                  <a:schemeClr val="bg2"/>
                </a:solidFill>
              </a:rPr>
              <a:t>Used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4621D-A017-1073-90E2-C3F249DA0BB3}"/>
              </a:ext>
            </a:extLst>
          </p:cNvPr>
          <p:cNvSpPr txBox="1"/>
          <p:nvPr/>
        </p:nvSpPr>
        <p:spPr>
          <a:xfrm>
            <a:off x="1435509" y="766915"/>
            <a:ext cx="2664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Data Sources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59292-EE32-EAA3-0E26-E114A51E3FBA}"/>
              </a:ext>
            </a:extLst>
          </p:cNvPr>
          <p:cNvSpPr txBox="1"/>
          <p:nvPr/>
        </p:nvSpPr>
        <p:spPr>
          <a:xfrm>
            <a:off x="2078154" y="5279923"/>
            <a:ext cx="4427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Datasets</a:t>
            </a:r>
          </a:p>
          <a:p>
            <a:r>
              <a:rPr lang="en-IN" b="1" dirty="0">
                <a:solidFill>
                  <a:schemeClr val="bg1"/>
                </a:solidFill>
              </a:rPr>
              <a:t>10 Mutual Fund Industry Datasets</a:t>
            </a:r>
          </a:p>
          <a:p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06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607590B-8EFD-58BB-D28E-7041263E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13" r="650"/>
          <a:stretch>
            <a:fillRect/>
          </a:stretch>
        </p:blipFill>
        <p:spPr>
          <a:xfrm>
            <a:off x="1974976" y="1057038"/>
            <a:ext cx="3677632" cy="5336317"/>
          </a:xfrm>
          <a:prstGeom prst="rect">
            <a:avLst/>
          </a:prstGeom>
          <a:ln>
            <a:noFill/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F56FB35D-9507-4E18-883E-A61D9FDE2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1A076-528E-214B-71D8-5DCB270A7DC0}"/>
              </a:ext>
            </a:extLst>
          </p:cNvPr>
          <p:cNvSpPr txBox="1"/>
          <p:nvPr/>
        </p:nvSpPr>
        <p:spPr>
          <a:xfrm>
            <a:off x="1154955" y="464645"/>
            <a:ext cx="6202578" cy="5923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System Architecture: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BE08691-9883-D835-1525-6F213CAB592B}"/>
              </a:ext>
            </a:extLst>
          </p:cNvPr>
          <p:cNvSpPr/>
          <p:nvPr/>
        </p:nvSpPr>
        <p:spPr>
          <a:xfrm>
            <a:off x="6543951" y="2408903"/>
            <a:ext cx="4369855" cy="2810796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29459A-CFAE-BEE2-FBB2-0E87E425E30F}"/>
              </a:ext>
            </a:extLst>
          </p:cNvPr>
          <p:cNvSpPr txBox="1"/>
          <p:nvPr/>
        </p:nvSpPr>
        <p:spPr>
          <a:xfrm>
            <a:off x="6794090" y="2635046"/>
            <a:ext cx="3893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Layers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Data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ETL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Database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Analytics Layer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Visualization Layer</a:t>
            </a:r>
          </a:p>
        </p:txBody>
      </p:sp>
    </p:spTree>
    <p:extLst>
      <p:ext uri="{BB962C8B-B14F-4D97-AF65-F5344CB8AC3E}">
        <p14:creationId xmlns:p14="http://schemas.microsoft.com/office/powerpoint/2010/main" val="389210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04CB29-888F-0976-239D-0EE67B57A150}"/>
              </a:ext>
            </a:extLst>
          </p:cNvPr>
          <p:cNvSpPr/>
          <p:nvPr/>
        </p:nvSpPr>
        <p:spPr>
          <a:xfrm>
            <a:off x="993057" y="1570703"/>
            <a:ext cx="4218040" cy="3935361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E242E-BBD2-5B08-D927-505ED2AE361A}"/>
              </a:ext>
            </a:extLst>
          </p:cNvPr>
          <p:cNvSpPr txBox="1"/>
          <p:nvPr/>
        </p:nvSpPr>
        <p:spPr>
          <a:xfrm>
            <a:off x="1425677" y="2413337"/>
            <a:ext cx="32643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Exploratory Data Analysis</a:t>
            </a:r>
          </a:p>
          <a:p>
            <a:r>
              <a:rPr lang="en-IN" b="1" dirty="0">
                <a:solidFill>
                  <a:srgbClr val="92D050"/>
                </a:solidFill>
              </a:rPr>
              <a:t>Key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NAV Trend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AUM Growth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SIP Inflow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Category Inflow Analysis</a:t>
            </a:r>
          </a:p>
          <a:p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73C7FB-333B-1F22-C480-ED2917A86310}"/>
              </a:ext>
            </a:extLst>
          </p:cNvPr>
          <p:cNvSpPr/>
          <p:nvPr/>
        </p:nvSpPr>
        <p:spPr>
          <a:xfrm>
            <a:off x="6253316" y="1570703"/>
            <a:ext cx="4345858" cy="3935362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6799E-B9F9-5F6E-3BBF-2C5845ED8B6F}"/>
              </a:ext>
            </a:extLst>
          </p:cNvPr>
          <p:cNvSpPr txBox="1"/>
          <p:nvPr/>
        </p:nvSpPr>
        <p:spPr>
          <a:xfrm>
            <a:off x="6617109" y="1812744"/>
            <a:ext cx="36182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Major Observations</a:t>
            </a:r>
          </a:p>
          <a:p>
            <a:r>
              <a:rPr lang="en-IN" dirty="0">
                <a:solidFill>
                  <a:schemeClr val="bg1"/>
                </a:solidFill>
              </a:rPr>
              <a:t>✔ Strong NAV growth observed during 2023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✔ SBI Mutual Fund maintained highest AUM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✔ SIP inflows increased consistently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✔ Equity funds attracted highest investments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E5E4CE-31D8-9025-225B-6388FFA1DDF2}"/>
              </a:ext>
            </a:extLst>
          </p:cNvPr>
          <p:cNvSpPr txBox="1"/>
          <p:nvPr/>
        </p:nvSpPr>
        <p:spPr>
          <a:xfrm>
            <a:off x="1258529" y="902420"/>
            <a:ext cx="4218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EDA Highlights – Industry Trends</a:t>
            </a:r>
          </a:p>
        </p:txBody>
      </p:sp>
    </p:spTree>
    <p:extLst>
      <p:ext uri="{BB962C8B-B14F-4D97-AF65-F5344CB8AC3E}">
        <p14:creationId xmlns:p14="http://schemas.microsoft.com/office/powerpoint/2010/main" val="111171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BDF8A4-611A-44BE-F8CA-D5FA707D8CC3}"/>
              </a:ext>
            </a:extLst>
          </p:cNvPr>
          <p:cNvSpPr txBox="1"/>
          <p:nvPr/>
        </p:nvSpPr>
        <p:spPr>
          <a:xfrm>
            <a:off x="1012723" y="904568"/>
            <a:ext cx="442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EDA Highlights – Investor Analytics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61CFA-AA7B-7AB3-CD71-592F266B51A7}"/>
              </a:ext>
            </a:extLst>
          </p:cNvPr>
          <p:cNvSpPr/>
          <p:nvPr/>
        </p:nvSpPr>
        <p:spPr>
          <a:xfrm>
            <a:off x="1307691" y="2123769"/>
            <a:ext cx="3736258" cy="336263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A5D25-4A82-4229-8DDA-20DD22C1DF8E}"/>
              </a:ext>
            </a:extLst>
          </p:cNvPr>
          <p:cNvSpPr txBox="1"/>
          <p:nvPr/>
        </p:nvSpPr>
        <p:spPr>
          <a:xfrm>
            <a:off x="1587910" y="2920181"/>
            <a:ext cx="32741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Analysis Performed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Age Group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Gender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Geographic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Transaction Analysis</a:t>
            </a:r>
          </a:p>
          <a:p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56935F-C4A1-1881-6068-B9882D8C7D6E}"/>
              </a:ext>
            </a:extLst>
          </p:cNvPr>
          <p:cNvSpPr/>
          <p:nvPr/>
        </p:nvSpPr>
        <p:spPr>
          <a:xfrm>
            <a:off x="5771535" y="2123769"/>
            <a:ext cx="5742039" cy="336263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09F36-328F-717B-C644-BF3BE78E1413}"/>
              </a:ext>
            </a:extLst>
          </p:cNvPr>
          <p:cNvSpPr txBox="1"/>
          <p:nvPr/>
        </p:nvSpPr>
        <p:spPr>
          <a:xfrm>
            <a:off x="6096000" y="2477729"/>
            <a:ext cx="50537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Key Insights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✔ 26–35 age group contributed highest investments</a:t>
            </a:r>
          </a:p>
          <a:p>
            <a:r>
              <a:rPr lang="en-IN" dirty="0">
                <a:solidFill>
                  <a:schemeClr val="bg1"/>
                </a:solidFill>
              </a:rPr>
              <a:t>✔ T30 cities dominated transactions</a:t>
            </a:r>
          </a:p>
          <a:p>
            <a:r>
              <a:rPr lang="en-IN" dirty="0">
                <a:solidFill>
                  <a:schemeClr val="bg1"/>
                </a:solidFill>
              </a:rPr>
              <a:t>✔ UPI emerged as preferred payment mode</a:t>
            </a:r>
          </a:p>
          <a:p>
            <a:r>
              <a:rPr lang="en-IN" dirty="0">
                <a:solidFill>
                  <a:schemeClr val="bg1"/>
                </a:solidFill>
              </a:rPr>
              <a:t>✔ Industry folios doubled between 2022 and 2025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9157D-BF2D-3643-0A2C-EAE69AA235C9}"/>
              </a:ext>
            </a:extLst>
          </p:cNvPr>
          <p:cNvSpPr txBox="1"/>
          <p:nvPr/>
        </p:nvSpPr>
        <p:spPr>
          <a:xfrm>
            <a:off x="4513006" y="1466515"/>
            <a:ext cx="3569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Investor </a:t>
            </a:r>
            <a:r>
              <a:rPr lang="en-IN" b="1" dirty="0" err="1">
                <a:solidFill>
                  <a:schemeClr val="bg1"/>
                </a:solidFill>
              </a:rPr>
              <a:t>Behavior</a:t>
            </a:r>
            <a:r>
              <a:rPr lang="en-IN" b="1" dirty="0">
                <a:solidFill>
                  <a:schemeClr val="bg1"/>
                </a:solidFill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6018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AD7498-9A7D-2F63-7230-95803BDCBBCA}"/>
              </a:ext>
            </a:extLst>
          </p:cNvPr>
          <p:cNvSpPr/>
          <p:nvPr/>
        </p:nvSpPr>
        <p:spPr>
          <a:xfrm>
            <a:off x="865238" y="1936955"/>
            <a:ext cx="3834581" cy="347078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309D2E-94DF-6CE5-7138-F24176A11CBB}"/>
              </a:ext>
            </a:extLst>
          </p:cNvPr>
          <p:cNvSpPr/>
          <p:nvPr/>
        </p:nvSpPr>
        <p:spPr>
          <a:xfrm>
            <a:off x="6548283" y="1936955"/>
            <a:ext cx="4021394" cy="360352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461FC-80C5-1693-AF40-62AA80669CF0}"/>
              </a:ext>
            </a:extLst>
          </p:cNvPr>
          <p:cNvSpPr txBox="1"/>
          <p:nvPr/>
        </p:nvSpPr>
        <p:spPr>
          <a:xfrm>
            <a:off x="865238" y="668594"/>
            <a:ext cx="4493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Performance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90C5A-A61E-EAD5-2D6C-1E15E42CFB97}"/>
              </a:ext>
            </a:extLst>
          </p:cNvPr>
          <p:cNvSpPr txBox="1"/>
          <p:nvPr/>
        </p:nvSpPr>
        <p:spPr>
          <a:xfrm>
            <a:off x="4139380" y="1317523"/>
            <a:ext cx="35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Fund Performance Analytics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39359-8978-576C-0FBA-14C6C20515A5}"/>
              </a:ext>
            </a:extLst>
          </p:cNvPr>
          <p:cNvSpPr txBox="1"/>
          <p:nvPr/>
        </p:nvSpPr>
        <p:spPr>
          <a:xfrm>
            <a:off x="1238865" y="2428568"/>
            <a:ext cx="29005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Metrics Calculated</a:t>
            </a:r>
          </a:p>
          <a:p>
            <a:endParaRPr lang="en-IN" b="1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CAGR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Sharpe Ratio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Sortino Ratio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Alpha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Beta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Maximum Drawdown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B5102-D193-A621-FE23-F8BABD699503}"/>
              </a:ext>
            </a:extLst>
          </p:cNvPr>
          <p:cNvSpPr txBox="1"/>
          <p:nvPr/>
        </p:nvSpPr>
        <p:spPr>
          <a:xfrm>
            <a:off x="6744930" y="2428568"/>
            <a:ext cx="38247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Purpose</a:t>
            </a:r>
          </a:p>
          <a:p>
            <a:endParaRPr lang="en-IN" b="1" dirty="0">
              <a:solidFill>
                <a:srgbClr val="00B0F0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Evaluate: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Returns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Benchmark Outperformance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Portfolio Stability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01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6756FF-B6D2-4120-7EE9-764436CF5EA4}"/>
              </a:ext>
            </a:extLst>
          </p:cNvPr>
          <p:cNvSpPr/>
          <p:nvPr/>
        </p:nvSpPr>
        <p:spPr>
          <a:xfrm>
            <a:off x="934065" y="1779640"/>
            <a:ext cx="4866967" cy="3451122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865620-6987-8EDB-830C-F9E909D56597}"/>
              </a:ext>
            </a:extLst>
          </p:cNvPr>
          <p:cNvSpPr/>
          <p:nvPr/>
        </p:nvSpPr>
        <p:spPr>
          <a:xfrm>
            <a:off x="6759677" y="1779640"/>
            <a:ext cx="4227871" cy="3529779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6B448-A116-F402-3C16-30BA555F5D1F}"/>
              </a:ext>
            </a:extLst>
          </p:cNvPr>
          <p:cNvSpPr txBox="1"/>
          <p:nvPr/>
        </p:nvSpPr>
        <p:spPr>
          <a:xfrm>
            <a:off x="1160206" y="639097"/>
            <a:ext cx="4296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Advanced Risk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0651A-A533-811A-27FA-3B54340044B5}"/>
              </a:ext>
            </a:extLst>
          </p:cNvPr>
          <p:cNvSpPr txBox="1"/>
          <p:nvPr/>
        </p:nvSpPr>
        <p:spPr>
          <a:xfrm>
            <a:off x="1543665" y="2113935"/>
            <a:ext cx="3519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Implemented Analytics</a:t>
            </a:r>
          </a:p>
          <a:p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✔ Historical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VaR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(95%)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✔ Conditional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VaR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(CVaR)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✔ Rolling Sharpe Ratio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✔ Sector HHI Concentration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✔ SIP Continuity Analysis</a:t>
            </a:r>
          </a:p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✔ Investor Cohort Analysis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78F5A-7B48-78EA-905B-74E73BC90EB2}"/>
              </a:ext>
            </a:extLst>
          </p:cNvPr>
          <p:cNvSpPr txBox="1"/>
          <p:nvPr/>
        </p:nvSpPr>
        <p:spPr>
          <a:xfrm>
            <a:off x="7207044" y="2529433"/>
            <a:ext cx="3333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Outcome</a:t>
            </a:r>
          </a:p>
          <a:p>
            <a:r>
              <a:rPr lang="en-IN" dirty="0">
                <a:solidFill>
                  <a:schemeClr val="bg1"/>
                </a:solidFill>
              </a:rPr>
              <a:t>Improved understanding 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Downside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Diversification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Investor Retention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8DD37-5DF7-90EF-2A4C-B3811F3F29F4}"/>
              </a:ext>
            </a:extLst>
          </p:cNvPr>
          <p:cNvSpPr txBox="1"/>
          <p:nvPr/>
        </p:nvSpPr>
        <p:spPr>
          <a:xfrm>
            <a:off x="4611329" y="1229032"/>
            <a:ext cx="308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Risk Management Metrics</a:t>
            </a:r>
          </a:p>
        </p:txBody>
      </p:sp>
    </p:spTree>
    <p:extLst>
      <p:ext uri="{BB962C8B-B14F-4D97-AF65-F5344CB8AC3E}">
        <p14:creationId xmlns:p14="http://schemas.microsoft.com/office/powerpoint/2010/main" val="3759403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DA1A5-2CA6-B0F8-9803-AABA07C36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61D32-A8DD-C145-F588-0B0941F9E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87" y="967817"/>
            <a:ext cx="5606622" cy="5393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9FA897-34D6-31D9-57B0-D7270E6E662C}"/>
              </a:ext>
            </a:extLst>
          </p:cNvPr>
          <p:cNvSpPr txBox="1"/>
          <p:nvPr/>
        </p:nvSpPr>
        <p:spPr>
          <a:xfrm>
            <a:off x="776748" y="629265"/>
            <a:ext cx="3814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Dashboard Overview: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E9014-49B8-B4AB-6F8E-782867DED4A6}"/>
              </a:ext>
            </a:extLst>
          </p:cNvPr>
          <p:cNvSpPr txBox="1"/>
          <p:nvPr/>
        </p:nvSpPr>
        <p:spPr>
          <a:xfrm>
            <a:off x="953729" y="1229032"/>
            <a:ext cx="5250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Power BI Dashboard – Industry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50223-9249-4035-435E-4BCF7FDF922E}"/>
              </a:ext>
            </a:extLst>
          </p:cNvPr>
          <p:cNvSpPr txBox="1"/>
          <p:nvPr/>
        </p:nvSpPr>
        <p:spPr>
          <a:xfrm>
            <a:off x="1042219" y="2143432"/>
            <a:ext cx="47588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Features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AUM KPI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SIP KPI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Total Folios KPI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Scheme Count KPI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Industry Growth Trends </a:t>
            </a:r>
          </a:p>
          <a:p>
            <a:endParaRPr lang="en-IN" dirty="0"/>
          </a:p>
          <a:p>
            <a:r>
              <a:rPr lang="en-IN" b="1" dirty="0">
                <a:solidFill>
                  <a:srgbClr val="00B050"/>
                </a:solidFill>
              </a:rPr>
              <a:t>Benefits</a:t>
            </a:r>
          </a:p>
          <a:p>
            <a:r>
              <a:rPr lang="en-IN" dirty="0">
                <a:solidFill>
                  <a:schemeClr val="bg1"/>
                </a:solidFill>
              </a:rPr>
              <a:t>Provides industry-wide insights at a glance.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49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1FF905-FF64-C14C-07B8-47C63E99F376}"/>
              </a:ext>
            </a:extLst>
          </p:cNvPr>
          <p:cNvSpPr txBox="1"/>
          <p:nvPr/>
        </p:nvSpPr>
        <p:spPr>
          <a:xfrm>
            <a:off x="1229033" y="884904"/>
            <a:ext cx="5447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Investor Analytics &amp; Fund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6E36E-BA0A-667A-6111-68FE171F5E6E}"/>
              </a:ext>
            </a:extLst>
          </p:cNvPr>
          <p:cNvSpPr txBox="1"/>
          <p:nvPr/>
        </p:nvSpPr>
        <p:spPr>
          <a:xfrm>
            <a:off x="2620296" y="1691148"/>
            <a:ext cx="65777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Features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err="1">
                <a:solidFill>
                  <a:schemeClr val="bg1"/>
                </a:solidFill>
              </a:rPr>
              <a:t>FeaturesFund</a:t>
            </a:r>
            <a:r>
              <a:rPr lang="en-IN" dirty="0">
                <a:solidFill>
                  <a:schemeClr val="bg1"/>
                </a:solidFill>
              </a:rPr>
              <a:t> Comparison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Return vs Risk Analysis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State-wise Investments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Transaction Breakdown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SIP Trend Monitoring </a:t>
            </a:r>
          </a:p>
          <a:p>
            <a:endParaRPr lang="en-IN" b="1" dirty="0"/>
          </a:p>
          <a:p>
            <a:r>
              <a:rPr lang="en-IN" b="1" dirty="0">
                <a:solidFill>
                  <a:srgbClr val="FFFF00"/>
                </a:solidFill>
              </a:rPr>
              <a:t>Interactive Components</a:t>
            </a:r>
          </a:p>
          <a:p>
            <a:r>
              <a:rPr lang="en-IN" dirty="0">
                <a:solidFill>
                  <a:schemeClr val="bg1"/>
                </a:solidFill>
              </a:rPr>
              <a:t>✔ Filters</a:t>
            </a:r>
          </a:p>
          <a:p>
            <a:r>
              <a:rPr lang="en-IN" dirty="0">
                <a:solidFill>
                  <a:schemeClr val="bg1"/>
                </a:solidFill>
              </a:rPr>
              <a:t>✔ Slicers</a:t>
            </a:r>
          </a:p>
          <a:p>
            <a:r>
              <a:rPr lang="en-IN" dirty="0">
                <a:solidFill>
                  <a:schemeClr val="bg1"/>
                </a:solidFill>
              </a:rPr>
              <a:t>✔ Drill-down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31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243208-6F46-207C-CB5A-2E09E344C41E}"/>
              </a:ext>
            </a:extLst>
          </p:cNvPr>
          <p:cNvSpPr/>
          <p:nvPr/>
        </p:nvSpPr>
        <p:spPr>
          <a:xfrm>
            <a:off x="1720645" y="1435510"/>
            <a:ext cx="8180439" cy="4581832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03771-FB9C-A0AA-6790-0F174429040B}"/>
              </a:ext>
            </a:extLst>
          </p:cNvPr>
          <p:cNvSpPr txBox="1"/>
          <p:nvPr/>
        </p:nvSpPr>
        <p:spPr>
          <a:xfrm>
            <a:off x="2084438" y="1602767"/>
            <a:ext cx="71677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Major Project Insights</a:t>
            </a:r>
          </a:p>
          <a:p>
            <a:endParaRPr lang="en-IN" b="1" dirty="0"/>
          </a:p>
          <a:p>
            <a:r>
              <a:rPr lang="en-IN" b="1" dirty="0">
                <a:solidFill>
                  <a:srgbClr val="00B0F0"/>
                </a:solidFill>
              </a:rPr>
              <a:t>Industry Insights</a:t>
            </a:r>
          </a:p>
          <a:p>
            <a:r>
              <a:rPr lang="en-IN" dirty="0">
                <a:solidFill>
                  <a:schemeClr val="bg1"/>
                </a:solidFill>
              </a:rPr>
              <a:t>✔ SBI Mutual Fund leads in AUM</a:t>
            </a:r>
          </a:p>
          <a:p>
            <a:r>
              <a:rPr lang="en-IN" dirty="0">
                <a:solidFill>
                  <a:schemeClr val="bg1"/>
                </a:solidFill>
              </a:rPr>
              <a:t>✔ Equity funds dominate investments</a:t>
            </a:r>
          </a:p>
          <a:p>
            <a:r>
              <a:rPr lang="en-IN" dirty="0">
                <a:solidFill>
                  <a:schemeClr val="bg1"/>
                </a:solidFill>
              </a:rPr>
              <a:t>✔ SIP inflows reached ₹31,002 Cr in Dec 2025</a:t>
            </a:r>
          </a:p>
          <a:p>
            <a:endParaRPr lang="en-IN" dirty="0"/>
          </a:p>
          <a:p>
            <a:r>
              <a:rPr lang="en-IN" b="1" dirty="0">
                <a:solidFill>
                  <a:srgbClr val="00B0F0"/>
                </a:solidFill>
              </a:rPr>
              <a:t>Investor Insights</a:t>
            </a:r>
          </a:p>
          <a:p>
            <a:r>
              <a:rPr lang="en-IN" dirty="0">
                <a:solidFill>
                  <a:schemeClr val="bg1"/>
                </a:solidFill>
              </a:rPr>
              <a:t>✔ 26–35 age group invests most</a:t>
            </a:r>
          </a:p>
          <a:p>
            <a:r>
              <a:rPr lang="en-IN" dirty="0">
                <a:solidFill>
                  <a:schemeClr val="bg1"/>
                </a:solidFill>
              </a:rPr>
              <a:t>✔ T30 cities contribute majority investments</a:t>
            </a:r>
          </a:p>
          <a:p>
            <a:endParaRPr lang="en-IN" dirty="0"/>
          </a:p>
          <a:p>
            <a:r>
              <a:rPr lang="en-IN" b="1" dirty="0">
                <a:solidFill>
                  <a:srgbClr val="00B0F0"/>
                </a:solidFill>
              </a:rPr>
              <a:t>Performance Insights</a:t>
            </a:r>
          </a:p>
          <a:p>
            <a:r>
              <a:rPr lang="en-IN" dirty="0">
                <a:solidFill>
                  <a:schemeClr val="bg1"/>
                </a:solidFill>
              </a:rPr>
              <a:t>✔ High Sharpe Ratio funds deliver better risk-adjusted returns</a:t>
            </a:r>
          </a:p>
          <a:p>
            <a:r>
              <a:rPr lang="en-IN" dirty="0">
                <a:solidFill>
                  <a:schemeClr val="bg1"/>
                </a:solidFill>
              </a:rPr>
              <a:t>✔ Diversified portfolios exhibit lower concentration risk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40D82-F9B1-06E3-389A-98A06D407BC5}"/>
              </a:ext>
            </a:extLst>
          </p:cNvPr>
          <p:cNvSpPr txBox="1"/>
          <p:nvPr/>
        </p:nvSpPr>
        <p:spPr>
          <a:xfrm>
            <a:off x="1484671" y="688368"/>
            <a:ext cx="3293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Key Findings:</a:t>
            </a:r>
          </a:p>
        </p:txBody>
      </p:sp>
    </p:spTree>
    <p:extLst>
      <p:ext uri="{BB962C8B-B14F-4D97-AF65-F5344CB8AC3E}">
        <p14:creationId xmlns:p14="http://schemas.microsoft.com/office/powerpoint/2010/main" val="329042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A4C54-877D-6EA4-907B-D88C8BCDF24B}"/>
              </a:ext>
            </a:extLst>
          </p:cNvPr>
          <p:cNvSpPr txBox="1"/>
          <p:nvPr/>
        </p:nvSpPr>
        <p:spPr>
          <a:xfrm>
            <a:off x="1120878" y="808392"/>
            <a:ext cx="4975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0874D-6EF5-883D-C039-EEEC2F9A6638}"/>
              </a:ext>
            </a:extLst>
          </p:cNvPr>
          <p:cNvSpPr txBox="1"/>
          <p:nvPr/>
        </p:nvSpPr>
        <p:spPr>
          <a:xfrm>
            <a:off x="2497394" y="1443841"/>
            <a:ext cx="57125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FF00"/>
                </a:solidFill>
              </a:rPr>
              <a:t>Project Summary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The Mutual Fund Analytics Platform successfully integrated:</a:t>
            </a:r>
          </a:p>
          <a:p>
            <a:r>
              <a:rPr lang="en-IN" dirty="0">
                <a:solidFill>
                  <a:schemeClr val="bg1"/>
                </a:solidFill>
              </a:rPr>
              <a:t>✔ Data Engineering</a:t>
            </a:r>
          </a:p>
          <a:p>
            <a:r>
              <a:rPr lang="en-IN" dirty="0">
                <a:solidFill>
                  <a:schemeClr val="bg1"/>
                </a:solidFill>
              </a:rPr>
              <a:t>✔ Financial Analytics</a:t>
            </a:r>
          </a:p>
          <a:p>
            <a:r>
              <a:rPr lang="en-IN" dirty="0">
                <a:solidFill>
                  <a:schemeClr val="bg1"/>
                </a:solidFill>
              </a:rPr>
              <a:t>✔ Risk Analytics</a:t>
            </a:r>
          </a:p>
          <a:p>
            <a:r>
              <a:rPr lang="en-IN" dirty="0">
                <a:solidFill>
                  <a:schemeClr val="bg1"/>
                </a:solidFill>
              </a:rPr>
              <a:t>✔ Dashboard Visualization</a:t>
            </a:r>
          </a:p>
          <a:p>
            <a:r>
              <a:rPr lang="en-IN" dirty="0">
                <a:solidFill>
                  <a:schemeClr val="bg1"/>
                </a:solidFill>
              </a:rPr>
              <a:t>✔ Investment Recommendation Logic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rgbClr val="FFFF00"/>
                </a:solidFill>
              </a:rPr>
              <a:t>Technologies Used</a:t>
            </a:r>
          </a:p>
          <a:p>
            <a:r>
              <a:rPr lang="en-IN" dirty="0">
                <a:solidFill>
                  <a:schemeClr val="bg1"/>
                </a:solidFill>
              </a:rPr>
              <a:t>Python • Pandas • SQLite • Power BI • NumPy • Matplotlib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95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5ABCEF-E1C6-BBAE-EA63-6F83EF018FC8}"/>
              </a:ext>
            </a:extLst>
          </p:cNvPr>
          <p:cNvSpPr/>
          <p:nvPr/>
        </p:nvSpPr>
        <p:spPr>
          <a:xfrm>
            <a:off x="3116826" y="1995948"/>
            <a:ext cx="6469626" cy="33528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200" b="1" dirty="0">
                <a:solidFill>
                  <a:srgbClr val="FFFF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913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{BCD184F8-1096-4F6F-8615-30026ACAED2C}TF229edf6a-8a49-49ee-a0a6-5037052947485fb3ca0c-bc27bf41d645</Template>
  <TotalTime>163</TotalTime>
  <Words>505</Words>
  <Application>Microsoft Office PowerPoint</Application>
  <PresentationFormat>Widescreen</PresentationFormat>
  <Paragraphs>174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Wingdings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ampolurajkumar@outlook.com</dc:creator>
  <cp:lastModifiedBy>ampolurajkumar@outlook.com</cp:lastModifiedBy>
  <cp:revision>3</cp:revision>
  <dcterms:created xsi:type="dcterms:W3CDTF">2026-06-11T08:59:24Z</dcterms:created>
  <dcterms:modified xsi:type="dcterms:W3CDTF">2026-06-11T17:08:02Z</dcterms:modified>
</cp:coreProperties>
</file>